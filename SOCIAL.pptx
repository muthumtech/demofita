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70" r:id="rId12"/>
    <p:sldId id="267" r:id="rId13"/>
    <p:sldId id="268" r:id="rId14"/>
    <p:sldId id="269"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SOCIAL MEDIA MARKETING</a:t>
            </a:r>
            <a:endParaRPr lang="en-IN" dirty="0"/>
          </a:p>
        </p:txBody>
      </p:sp>
      <p:sp>
        <p:nvSpPr>
          <p:cNvPr id="3" name="Subtitle 2"/>
          <p:cNvSpPr>
            <a:spLocks noGrp="1"/>
          </p:cNvSpPr>
          <p:nvPr>
            <p:ph type="subTitle" idx="1"/>
          </p:nvPr>
        </p:nvSpPr>
        <p:spPr/>
        <p:txBody>
          <a:bodyPr>
            <a:normAutofit/>
          </a:bodyPr>
          <a:lstStyle/>
          <a:p>
            <a:endParaRPr lang="en-US" dirty="0" smtClean="0"/>
          </a:p>
          <a:p>
            <a:endParaRPr lang="en-IN" dirty="0"/>
          </a:p>
        </p:txBody>
      </p:sp>
    </p:spTree>
    <p:extLst>
      <p:ext uri="{BB962C8B-B14F-4D97-AF65-F5344CB8AC3E}">
        <p14:creationId xmlns:p14="http://schemas.microsoft.com/office/powerpoint/2010/main" val="2558263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marketing </a:t>
            </a:r>
            <a:r>
              <a:rPr lang="en-US" dirty="0" err="1" smtClean="0"/>
              <a:t>marketing</a:t>
            </a:r>
            <a:endParaRPr lang="en-IN" dirty="0"/>
          </a:p>
        </p:txBody>
      </p:sp>
      <p:sp>
        <p:nvSpPr>
          <p:cNvPr id="3" name="Content Placeholder 2"/>
          <p:cNvSpPr>
            <a:spLocks noGrp="1"/>
          </p:cNvSpPr>
          <p:nvPr>
            <p:ph idx="1"/>
          </p:nvPr>
        </p:nvSpPr>
        <p:spPr/>
        <p:txBody>
          <a:bodyPr/>
          <a:lstStyle/>
          <a:p>
            <a:r>
              <a:rPr lang="en-US" dirty="0" smtClean="0"/>
              <a:t>What is a social media marketing</a:t>
            </a:r>
          </a:p>
          <a:p>
            <a:r>
              <a:rPr lang="en-US" dirty="0" smtClean="0"/>
              <a:t>Importance social media marketing</a:t>
            </a:r>
          </a:p>
          <a:p>
            <a:r>
              <a:rPr lang="en-US" dirty="0" smtClean="0"/>
              <a:t>Social media marketing platforms</a:t>
            </a:r>
          </a:p>
          <a:p>
            <a:r>
              <a:rPr lang="en-US" dirty="0" smtClean="0"/>
              <a:t>Advantages of social marketing</a:t>
            </a:r>
          </a:p>
          <a:p>
            <a:r>
              <a:rPr lang="en-US" dirty="0"/>
              <a:t>D</a:t>
            </a:r>
            <a:r>
              <a:rPr lang="en-US" dirty="0" smtClean="0"/>
              <a:t>isadvantages </a:t>
            </a:r>
            <a:r>
              <a:rPr lang="en-US" dirty="0"/>
              <a:t>of social </a:t>
            </a:r>
            <a:r>
              <a:rPr lang="en-US" dirty="0" smtClean="0"/>
              <a:t>marketing</a:t>
            </a:r>
          </a:p>
          <a:p>
            <a:r>
              <a:rPr lang="en-US" dirty="0" smtClean="0"/>
              <a:t>Social media marketing tools</a:t>
            </a:r>
          </a:p>
          <a:p>
            <a:pPr marL="0" indent="0">
              <a:buNone/>
            </a:pPr>
            <a:endParaRPr lang="en-IN" dirty="0"/>
          </a:p>
        </p:txBody>
      </p:sp>
    </p:spTree>
    <p:extLst>
      <p:ext uri="{BB962C8B-B14F-4D97-AF65-F5344CB8AC3E}">
        <p14:creationId xmlns:p14="http://schemas.microsoft.com/office/powerpoint/2010/main" val="3565005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social media marketing:-</a:t>
            </a:r>
            <a:endParaRPr lang="en-IN" dirty="0"/>
          </a:p>
        </p:txBody>
      </p:sp>
      <p:sp>
        <p:nvSpPr>
          <p:cNvPr id="3" name="Content Placeholder 2"/>
          <p:cNvSpPr>
            <a:spLocks noGrp="1"/>
          </p:cNvSpPr>
          <p:nvPr>
            <p:ph idx="1"/>
          </p:nvPr>
        </p:nvSpPr>
        <p:spPr/>
        <p:txBody>
          <a:bodyPr/>
          <a:lstStyle/>
          <a:p>
            <a:r>
              <a:rPr lang="en-US" b="1" dirty="0"/>
              <a:t>Social media marketing (SMM)</a:t>
            </a:r>
            <a:r>
              <a:rPr lang="en-US" dirty="0"/>
              <a:t> is a form of digital marketing that uses social media platforms to promote products, services, or brands. It involves creating and sharing content—such as text, images, videos, and ads—to engage with an audience, build brand awareness, drive website traffic, and generate leads or sales.</a:t>
            </a:r>
            <a:endParaRPr lang="en-IN" dirty="0"/>
          </a:p>
        </p:txBody>
      </p:sp>
    </p:spTree>
    <p:extLst>
      <p:ext uri="{BB962C8B-B14F-4D97-AF65-F5344CB8AC3E}">
        <p14:creationId xmlns:p14="http://schemas.microsoft.com/office/powerpoint/2010/main" val="49052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Importance social media marketing</a:t>
            </a:r>
            <a:br>
              <a:rPr lang="en-US" dirty="0"/>
            </a:br>
            <a:endParaRPr lang="en-IN" dirty="0"/>
          </a:p>
        </p:txBody>
      </p:sp>
      <p:sp>
        <p:nvSpPr>
          <p:cNvPr id="3" name="Content Placeholder 2"/>
          <p:cNvSpPr>
            <a:spLocks noGrp="1"/>
          </p:cNvSpPr>
          <p:nvPr>
            <p:ph idx="1"/>
          </p:nvPr>
        </p:nvSpPr>
        <p:spPr/>
        <p:txBody>
          <a:bodyPr/>
          <a:lstStyle/>
          <a:p>
            <a:r>
              <a:rPr lang="en-US" dirty="0" smtClean="0"/>
              <a:t>Increases leads</a:t>
            </a:r>
          </a:p>
          <a:p>
            <a:r>
              <a:rPr lang="en-US" dirty="0" smtClean="0"/>
              <a:t>Helps increase </a:t>
            </a:r>
            <a:r>
              <a:rPr lang="en-US" dirty="0" err="1" smtClean="0"/>
              <a:t>increase</a:t>
            </a:r>
            <a:r>
              <a:rPr lang="en-US" dirty="0" smtClean="0"/>
              <a:t> brand visibility online</a:t>
            </a:r>
          </a:p>
          <a:p>
            <a:r>
              <a:rPr lang="en-US" dirty="0" smtClean="0"/>
              <a:t>Create consumer awareness</a:t>
            </a:r>
          </a:p>
          <a:p>
            <a:r>
              <a:rPr lang="en-US" dirty="0" smtClean="0"/>
              <a:t>Helps drive conversions</a:t>
            </a:r>
          </a:p>
          <a:p>
            <a:r>
              <a:rPr lang="en-US" dirty="0" smtClean="0"/>
              <a:t>Its cost-effective</a:t>
            </a:r>
            <a:endParaRPr lang="en-IN" dirty="0"/>
          </a:p>
        </p:txBody>
      </p:sp>
    </p:spTree>
    <p:extLst>
      <p:ext uri="{BB962C8B-B14F-4D97-AF65-F5344CB8AC3E}">
        <p14:creationId xmlns:p14="http://schemas.microsoft.com/office/powerpoint/2010/main" val="3548937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Social media marketing </a:t>
            </a:r>
            <a:r>
              <a:rPr lang="en-US" dirty="0" smtClean="0"/>
              <a:t>platforms:-</a:t>
            </a:r>
            <a:br>
              <a:rPr lang="en-US" dirty="0" smtClean="0"/>
            </a:br>
            <a:r>
              <a:rPr lang="en-US" dirty="0"/>
              <a:t/>
            </a:r>
            <a:br>
              <a:rPr lang="en-US" dirty="0"/>
            </a:br>
            <a:r>
              <a:rPr lang="en-US" dirty="0"/>
              <a:t/>
            </a:r>
            <a:br>
              <a:rPr lang="en-US" dirty="0"/>
            </a:br>
            <a:endParaRPr lang="en-IN" dirty="0"/>
          </a:p>
        </p:txBody>
      </p:sp>
      <p:sp>
        <p:nvSpPr>
          <p:cNvPr id="3" name="Content Placeholder 2"/>
          <p:cNvSpPr>
            <a:spLocks noGrp="1"/>
          </p:cNvSpPr>
          <p:nvPr>
            <p:ph idx="1"/>
          </p:nvPr>
        </p:nvSpPr>
        <p:spPr/>
        <p:txBody>
          <a:bodyPr>
            <a:normAutofit fontScale="25000" lnSpcReduction="20000"/>
          </a:bodyPr>
          <a:lstStyle/>
          <a:p>
            <a:r>
              <a:rPr lang="en-US" sz="6400" dirty="0" smtClean="0"/>
              <a:t>Facebook</a:t>
            </a:r>
          </a:p>
          <a:p>
            <a:r>
              <a:rPr lang="en-US" sz="6400" dirty="0" smtClean="0"/>
              <a:t>Instagram</a:t>
            </a:r>
          </a:p>
          <a:p>
            <a:r>
              <a:rPr lang="en-US" sz="6400" dirty="0" smtClean="0"/>
              <a:t>Snapchat</a:t>
            </a:r>
          </a:p>
          <a:p>
            <a:r>
              <a:rPr lang="en-US" sz="6400" dirty="0" err="1" smtClean="0"/>
              <a:t>Linkedin</a:t>
            </a:r>
            <a:endParaRPr lang="en-US" sz="6400" dirty="0" smtClean="0"/>
          </a:p>
          <a:p>
            <a:r>
              <a:rPr lang="en-US" sz="6400" dirty="0" err="1" smtClean="0"/>
              <a:t>Whatsapp</a:t>
            </a:r>
            <a:endParaRPr lang="en-US" sz="6400" dirty="0" smtClean="0"/>
          </a:p>
          <a:p>
            <a:r>
              <a:rPr lang="en-US" sz="6400" dirty="0" err="1" smtClean="0"/>
              <a:t>Tiktok</a:t>
            </a:r>
            <a:endParaRPr lang="en-US" sz="6400" dirty="0" smtClean="0"/>
          </a:p>
          <a:p>
            <a:r>
              <a:rPr lang="en-US" sz="6400" dirty="0" smtClean="0"/>
              <a:t>Reddit</a:t>
            </a:r>
          </a:p>
          <a:p>
            <a:r>
              <a:rPr lang="en-US" sz="6400" dirty="0" smtClean="0"/>
              <a:t>Twitter</a:t>
            </a:r>
          </a:p>
          <a:p>
            <a:r>
              <a:rPr lang="en-US" sz="6400" dirty="0" err="1" smtClean="0"/>
              <a:t>Printerest</a:t>
            </a:r>
            <a:endParaRPr lang="en-US" sz="6400" dirty="0" smtClean="0"/>
          </a:p>
          <a:p>
            <a:r>
              <a:rPr lang="en-US" sz="6400" dirty="0" err="1" smtClean="0"/>
              <a:t>Youtube</a:t>
            </a:r>
            <a:endParaRPr lang="en-US" sz="6400" dirty="0" smtClean="0"/>
          </a:p>
          <a:p>
            <a:endParaRPr lang="en-US" sz="6400" dirty="0" smtClean="0"/>
          </a:p>
          <a:p>
            <a:endParaRPr lang="en-US" sz="6400" dirty="0" smtClean="0"/>
          </a:p>
          <a:p>
            <a:pPr marL="0" indent="0">
              <a:buNone/>
            </a:pPr>
            <a:endParaRPr lang="en-US" dirty="0" smtClean="0"/>
          </a:p>
          <a:p>
            <a:pPr marL="0" indent="0">
              <a:buNone/>
            </a:pPr>
            <a:endParaRPr lang="en-US" dirty="0" smtClean="0"/>
          </a:p>
          <a:p>
            <a:pPr marL="0" indent="0">
              <a:buNone/>
            </a:pPr>
            <a:r>
              <a:rPr lang="en-US" dirty="0" smtClean="0"/>
              <a:t>                    </a:t>
            </a:r>
            <a:endParaRPr lang="en-IN" dirty="0"/>
          </a:p>
        </p:txBody>
      </p:sp>
    </p:spTree>
    <p:extLst>
      <p:ext uri="{BB962C8B-B14F-4D97-AF65-F5344CB8AC3E}">
        <p14:creationId xmlns:p14="http://schemas.microsoft.com/office/powerpoint/2010/main" val="3980602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Facebook:-</a:t>
            </a:r>
            <a:endParaRPr lang="en-IN" dirty="0"/>
          </a:p>
        </p:txBody>
      </p:sp>
      <p:sp>
        <p:nvSpPr>
          <p:cNvPr id="4" name="Content Placeholder 3"/>
          <p:cNvSpPr>
            <a:spLocks noGrp="1"/>
          </p:cNvSpPr>
          <p:nvPr>
            <p:ph idx="1"/>
          </p:nvPr>
        </p:nvSpPr>
        <p:spPr/>
        <p:txBody>
          <a:bodyPr/>
          <a:lstStyle/>
          <a:p>
            <a:pPr marL="0" indent="0">
              <a:buNone/>
            </a:pPr>
            <a:r>
              <a:rPr lang="en-US" dirty="0" smtClean="0"/>
              <a:t>Facebook is the best social media marketing platform, which is the founded by Mark Zuckerberg on February 4, 2004.</a:t>
            </a:r>
          </a:p>
          <a:p>
            <a:r>
              <a:rPr lang="en-US" dirty="0" smtClean="0"/>
              <a:t>It allows us to invite and connect with your friends, </a:t>
            </a:r>
            <a:r>
              <a:rPr lang="en-US" dirty="0" err="1" smtClean="0"/>
              <a:t>reletives</a:t>
            </a:r>
            <a:r>
              <a:rPr lang="en-US" dirty="0" smtClean="0"/>
              <a:t>, colleagues, and customers by sending them messages, images, audio, and videos.</a:t>
            </a:r>
          </a:p>
          <a:p>
            <a:r>
              <a:rPr lang="en-US" dirty="0" smtClean="0"/>
              <a:t>It also allows us to like and comment on the posts, which are shared by them.</a:t>
            </a:r>
          </a:p>
          <a:p>
            <a:r>
              <a:rPr lang="en-US" dirty="0" smtClean="0"/>
              <a:t>Organizations use Facebook to promote their brand, create awareness about their product, and reach out to a wider audience.</a:t>
            </a:r>
          </a:p>
          <a:p>
            <a:pPr marL="0" indent="0">
              <a:buNone/>
            </a:pPr>
            <a:r>
              <a:rPr lang="en-US" dirty="0" smtClean="0"/>
              <a:t>          </a:t>
            </a:r>
            <a:endParaRPr lang="en-IN" dirty="0"/>
          </a:p>
        </p:txBody>
      </p:sp>
    </p:spTree>
    <p:extLst>
      <p:ext uri="{BB962C8B-B14F-4D97-AF65-F5344CB8AC3E}">
        <p14:creationId xmlns:p14="http://schemas.microsoft.com/office/powerpoint/2010/main" val="3357604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 of Facebook</a:t>
            </a:r>
          </a:p>
        </p:txBody>
      </p:sp>
      <p:sp>
        <p:nvSpPr>
          <p:cNvPr id="3" name="Content Placeholder 2"/>
          <p:cNvSpPr>
            <a:spLocks noGrp="1"/>
          </p:cNvSpPr>
          <p:nvPr>
            <p:ph idx="1"/>
          </p:nvPr>
        </p:nvSpPr>
        <p:spPr/>
        <p:txBody>
          <a:bodyPr/>
          <a:lstStyle/>
          <a:p>
            <a:r>
              <a:rPr lang="en-US" dirty="0" smtClean="0"/>
              <a:t> </a:t>
            </a:r>
            <a:r>
              <a:rPr lang="en-US" dirty="0"/>
              <a:t>Large and Diverse User Base</a:t>
            </a:r>
          </a:p>
          <a:p>
            <a:r>
              <a:rPr lang="en-IN" dirty="0" smtClean="0"/>
              <a:t> </a:t>
            </a:r>
            <a:r>
              <a:rPr lang="en-IN" dirty="0"/>
              <a:t>Targeted </a:t>
            </a:r>
            <a:r>
              <a:rPr lang="en-IN" dirty="0" smtClean="0"/>
              <a:t>Advertising</a:t>
            </a:r>
          </a:p>
          <a:p>
            <a:r>
              <a:rPr lang="en-IN" dirty="0" smtClean="0"/>
              <a:t> </a:t>
            </a:r>
            <a:r>
              <a:rPr lang="en-IN" dirty="0"/>
              <a:t>Business </a:t>
            </a:r>
            <a:r>
              <a:rPr lang="en-IN" dirty="0" smtClean="0"/>
              <a:t>Tools</a:t>
            </a:r>
          </a:p>
          <a:p>
            <a:r>
              <a:rPr lang="en-IN" dirty="0" smtClean="0"/>
              <a:t> </a:t>
            </a:r>
            <a:r>
              <a:rPr lang="en-IN" dirty="0"/>
              <a:t>Detailed </a:t>
            </a:r>
            <a:r>
              <a:rPr lang="en-IN" dirty="0" smtClean="0"/>
              <a:t>Analytics</a:t>
            </a:r>
          </a:p>
          <a:p>
            <a:r>
              <a:rPr lang="en-IN" sz="2000" dirty="0" smtClean="0"/>
              <a:t> </a:t>
            </a:r>
            <a:r>
              <a:rPr lang="en-IN" dirty="0"/>
              <a:t>Cross-Platform </a:t>
            </a:r>
            <a:r>
              <a:rPr lang="en-IN" dirty="0" smtClean="0"/>
              <a:t>Integration</a:t>
            </a:r>
          </a:p>
          <a:p>
            <a:r>
              <a:rPr lang="en-IN" dirty="0"/>
              <a:t>Community Building</a:t>
            </a:r>
          </a:p>
          <a:p>
            <a:endParaRPr lang="en-IN" strike="sngStrike" dirty="0" smtClean="0"/>
          </a:p>
          <a:p>
            <a:endParaRPr lang="en-IN" dirty="0"/>
          </a:p>
        </p:txBody>
      </p:sp>
    </p:spTree>
    <p:extLst>
      <p:ext uri="{BB962C8B-B14F-4D97-AF65-F5344CB8AC3E}">
        <p14:creationId xmlns:p14="http://schemas.microsoft.com/office/powerpoint/2010/main" val="3945215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t>
            </a:r>
            <a:r>
              <a:rPr lang="en-IN" b="1" dirty="0"/>
              <a:t>Disadvantages of Facebook:</a:t>
            </a:r>
            <a:br>
              <a:rPr lang="en-IN" b="1" dirty="0"/>
            </a:br>
            <a:r>
              <a:rPr lang="en-IN" b="1" dirty="0"/>
              <a:t/>
            </a:r>
            <a:br>
              <a:rPr lang="en-IN" b="1" dirty="0"/>
            </a:br>
            <a:endParaRPr lang="en-IN" dirty="0"/>
          </a:p>
        </p:txBody>
      </p:sp>
      <p:sp>
        <p:nvSpPr>
          <p:cNvPr id="3" name="Content Placeholder 2"/>
          <p:cNvSpPr>
            <a:spLocks noGrp="1"/>
          </p:cNvSpPr>
          <p:nvPr>
            <p:ph idx="1"/>
          </p:nvPr>
        </p:nvSpPr>
        <p:spPr/>
        <p:txBody>
          <a:bodyPr/>
          <a:lstStyle/>
          <a:p>
            <a:pPr marL="0" indent="0">
              <a:buNone/>
            </a:pPr>
            <a:endParaRPr lang="en-IN" b="1" dirty="0" smtClean="0"/>
          </a:p>
          <a:p>
            <a:r>
              <a:rPr lang="en-IN" dirty="0"/>
              <a:t>Declining Organic </a:t>
            </a:r>
            <a:r>
              <a:rPr lang="en-IN" dirty="0" smtClean="0"/>
              <a:t>Reach</a:t>
            </a:r>
          </a:p>
          <a:p>
            <a:r>
              <a:rPr lang="en-US" dirty="0"/>
              <a:t>Ad Costs Can Add </a:t>
            </a:r>
            <a:r>
              <a:rPr lang="en-US" dirty="0" smtClean="0"/>
              <a:t>Up</a:t>
            </a:r>
          </a:p>
          <a:p>
            <a:r>
              <a:rPr lang="en-IN" dirty="0"/>
              <a:t>Privacy and Trust </a:t>
            </a:r>
            <a:r>
              <a:rPr lang="en-IN" dirty="0" smtClean="0"/>
              <a:t>Issues</a:t>
            </a:r>
            <a:endParaRPr lang="en-US" dirty="0" smtClean="0"/>
          </a:p>
          <a:p>
            <a:r>
              <a:rPr lang="en-IN" dirty="0" smtClean="0"/>
              <a:t>Content Saturation</a:t>
            </a:r>
          </a:p>
          <a:p>
            <a:r>
              <a:rPr lang="en-IN" dirty="0"/>
              <a:t>Algorithm </a:t>
            </a:r>
            <a:r>
              <a:rPr lang="en-IN" dirty="0" smtClean="0"/>
              <a:t>Changes</a:t>
            </a:r>
          </a:p>
          <a:p>
            <a:r>
              <a:rPr lang="en-IN" dirty="0"/>
              <a:t>Limited Younger Audience Engagement</a:t>
            </a:r>
          </a:p>
          <a:p>
            <a:endParaRPr lang="en-US" dirty="0"/>
          </a:p>
          <a:p>
            <a:endParaRPr lang="en-IN" dirty="0"/>
          </a:p>
        </p:txBody>
      </p:sp>
    </p:spTree>
    <p:extLst>
      <p:ext uri="{BB962C8B-B14F-4D97-AF65-F5344CB8AC3E}">
        <p14:creationId xmlns:p14="http://schemas.microsoft.com/office/powerpoint/2010/main" val="306751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INSTAGRAM</a:t>
            </a:r>
            <a:endParaRPr lang="en-IN" dirty="0"/>
          </a:p>
        </p:txBody>
      </p:sp>
      <p:sp>
        <p:nvSpPr>
          <p:cNvPr id="3" name="Content Placeholder 2"/>
          <p:cNvSpPr>
            <a:spLocks noGrp="1"/>
          </p:cNvSpPr>
          <p:nvPr>
            <p:ph idx="1"/>
          </p:nvPr>
        </p:nvSpPr>
        <p:spPr/>
        <p:txBody>
          <a:bodyPr/>
          <a:lstStyle/>
          <a:p>
            <a:r>
              <a:rPr lang="en-US" dirty="0" smtClean="0"/>
              <a:t>Instagram is maintained by </a:t>
            </a:r>
            <a:r>
              <a:rPr lang="en-US" dirty="0"/>
              <a:t>F</a:t>
            </a:r>
            <a:r>
              <a:rPr lang="en-US" dirty="0" smtClean="0"/>
              <a:t>acebook.</a:t>
            </a:r>
          </a:p>
          <a:p>
            <a:r>
              <a:rPr lang="en-US" dirty="0" smtClean="0"/>
              <a:t>It is an effective tool to reach the audience and allows marketer to share images, memes, and videos to promote their  business.</a:t>
            </a:r>
          </a:p>
          <a:p>
            <a:r>
              <a:rPr lang="en-US" dirty="0" smtClean="0"/>
              <a:t>According to a survey, 80% of accounts follow a business on </a:t>
            </a:r>
            <a:r>
              <a:rPr lang="en-US" dirty="0" err="1" smtClean="0"/>
              <a:t>instagram</a:t>
            </a:r>
            <a:r>
              <a:rPr lang="en-US" dirty="0" smtClean="0"/>
              <a:t>.</a:t>
            </a:r>
          </a:p>
          <a:p>
            <a:r>
              <a:rPr lang="en-US" dirty="0" smtClean="0"/>
              <a:t>It works flawlessly on mobile phones and tablets.</a:t>
            </a:r>
            <a:endParaRPr lang="en-IN" dirty="0"/>
          </a:p>
        </p:txBody>
      </p:sp>
    </p:spTree>
    <p:extLst>
      <p:ext uri="{BB962C8B-B14F-4D97-AF65-F5344CB8AC3E}">
        <p14:creationId xmlns:p14="http://schemas.microsoft.com/office/powerpoint/2010/main" val="1619585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 of Instagram:-</a:t>
            </a:r>
            <a:endParaRPr lang="en-IN" dirty="0"/>
          </a:p>
        </p:txBody>
      </p:sp>
      <p:sp>
        <p:nvSpPr>
          <p:cNvPr id="3" name="Content Placeholder 2"/>
          <p:cNvSpPr>
            <a:spLocks noGrp="1"/>
          </p:cNvSpPr>
          <p:nvPr>
            <p:ph idx="1"/>
          </p:nvPr>
        </p:nvSpPr>
        <p:spPr/>
        <p:txBody>
          <a:bodyPr/>
          <a:lstStyle/>
          <a:p>
            <a:r>
              <a:rPr lang="en-US" dirty="0" smtClean="0"/>
              <a:t>Instagram’s global rank is 5</a:t>
            </a:r>
            <a:r>
              <a:rPr lang="en-US" baseline="30000" dirty="0" smtClean="0"/>
              <a:t>th</a:t>
            </a:r>
            <a:r>
              <a:rPr lang="en-US" dirty="0" smtClean="0"/>
              <a:t> on the internet.</a:t>
            </a:r>
          </a:p>
          <a:p>
            <a:r>
              <a:rPr lang="en-US" dirty="0" smtClean="0"/>
              <a:t>Instagram  helps marketers to enhance their branding.</a:t>
            </a:r>
          </a:p>
          <a:p>
            <a:r>
              <a:rPr lang="en-US" dirty="0" smtClean="0"/>
              <a:t>It is a marketer friendly platform.</a:t>
            </a:r>
          </a:p>
          <a:p>
            <a:r>
              <a:rPr lang="en-US" dirty="0" smtClean="0"/>
              <a:t>It helps </a:t>
            </a:r>
            <a:r>
              <a:rPr lang="en-US" dirty="0" err="1" smtClean="0"/>
              <a:t>marketrs</a:t>
            </a:r>
            <a:r>
              <a:rPr lang="en-US" dirty="0" smtClean="0"/>
              <a:t> to drive traffic and grow their business.</a:t>
            </a:r>
          </a:p>
          <a:p>
            <a:r>
              <a:rPr lang="en-US" dirty="0" smtClean="0"/>
              <a:t>It helps marketers to acquire customers easily. </a:t>
            </a:r>
            <a:endParaRPr lang="en-IN" dirty="0"/>
          </a:p>
        </p:txBody>
      </p:sp>
    </p:spTree>
    <p:extLst>
      <p:ext uri="{BB962C8B-B14F-4D97-AF65-F5344CB8AC3E}">
        <p14:creationId xmlns:p14="http://schemas.microsoft.com/office/powerpoint/2010/main" val="740076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 of Instagram:-</a:t>
            </a:r>
            <a:endParaRPr lang="en-IN" dirty="0"/>
          </a:p>
        </p:txBody>
      </p:sp>
      <p:sp>
        <p:nvSpPr>
          <p:cNvPr id="3" name="Content Placeholder 2"/>
          <p:cNvSpPr>
            <a:spLocks noGrp="1"/>
          </p:cNvSpPr>
          <p:nvPr>
            <p:ph idx="1"/>
          </p:nvPr>
        </p:nvSpPr>
        <p:spPr/>
        <p:txBody>
          <a:bodyPr/>
          <a:lstStyle/>
          <a:p>
            <a:r>
              <a:rPr lang="en-IN" dirty="0" smtClean="0"/>
              <a:t>Addiction</a:t>
            </a:r>
          </a:p>
          <a:p>
            <a:r>
              <a:rPr lang="en-US" dirty="0" smtClean="0"/>
              <a:t>Negative self-image</a:t>
            </a:r>
          </a:p>
          <a:p>
            <a:r>
              <a:rPr lang="en-US" dirty="0" smtClean="0"/>
              <a:t>Social comparison</a:t>
            </a:r>
          </a:p>
          <a:p>
            <a:r>
              <a:rPr lang="en-US" dirty="0" smtClean="0"/>
              <a:t>Algorithm changes</a:t>
            </a:r>
          </a:p>
          <a:p>
            <a:r>
              <a:rPr lang="en-US" dirty="0" smtClean="0"/>
              <a:t>Image theft</a:t>
            </a:r>
          </a:p>
          <a:p>
            <a:endParaRPr lang="en-IN" dirty="0"/>
          </a:p>
        </p:txBody>
      </p:sp>
    </p:spTree>
    <p:extLst>
      <p:ext uri="{BB962C8B-B14F-4D97-AF65-F5344CB8AC3E}">
        <p14:creationId xmlns:p14="http://schemas.microsoft.com/office/powerpoint/2010/main" val="3324371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a:t>
            </a:r>
            <a:r>
              <a:rPr lang="en-US" dirty="0" smtClean="0"/>
              <a:t>dvantage of social media marketing:-</a:t>
            </a:r>
            <a:endParaRPr lang="en-IN" dirty="0"/>
          </a:p>
        </p:txBody>
      </p:sp>
      <p:sp>
        <p:nvSpPr>
          <p:cNvPr id="3" name="Content Placeholder 2"/>
          <p:cNvSpPr>
            <a:spLocks noGrp="1"/>
          </p:cNvSpPr>
          <p:nvPr>
            <p:ph idx="1"/>
          </p:nvPr>
        </p:nvSpPr>
        <p:spPr/>
        <p:txBody>
          <a:bodyPr/>
          <a:lstStyle/>
          <a:p>
            <a:r>
              <a:rPr lang="en-US" dirty="0" smtClean="0"/>
              <a:t>Increase the Brand Awareness.</a:t>
            </a:r>
          </a:p>
          <a:p>
            <a:r>
              <a:rPr lang="en-US" dirty="0" err="1" smtClean="0"/>
              <a:t>Generarets</a:t>
            </a:r>
            <a:r>
              <a:rPr lang="en-US" dirty="0" smtClean="0"/>
              <a:t> more inbound traffic on websites</a:t>
            </a:r>
          </a:p>
          <a:p>
            <a:r>
              <a:rPr lang="en-US" dirty="0" smtClean="0"/>
              <a:t>Helps us to reach a large audience</a:t>
            </a:r>
          </a:p>
          <a:p>
            <a:r>
              <a:rPr lang="en-US" dirty="0" smtClean="0"/>
              <a:t>Improve brand loyalty &amp; customer engagement</a:t>
            </a:r>
          </a:p>
          <a:p>
            <a:r>
              <a:rPr lang="en-US" dirty="0" smtClean="0"/>
              <a:t>Makes our customer Up-To-Date</a:t>
            </a:r>
          </a:p>
          <a:p>
            <a:r>
              <a:rPr lang="en-US" dirty="0" err="1" smtClean="0"/>
              <a:t>Sost</a:t>
            </a:r>
            <a:r>
              <a:rPr lang="en-US" dirty="0" smtClean="0"/>
              <a:t>-efficient</a:t>
            </a:r>
          </a:p>
          <a:p>
            <a:r>
              <a:rPr lang="en-US" dirty="0" smtClean="0"/>
              <a:t>Improving search engine ranking</a:t>
            </a:r>
          </a:p>
          <a:p>
            <a:r>
              <a:rPr lang="en-US" dirty="0" smtClean="0"/>
              <a:t>Faster and easier communication</a:t>
            </a:r>
          </a:p>
          <a:p>
            <a:endParaRPr lang="en-IN" dirty="0"/>
          </a:p>
        </p:txBody>
      </p:sp>
    </p:spTree>
    <p:extLst>
      <p:ext uri="{BB962C8B-B14F-4D97-AF65-F5344CB8AC3E}">
        <p14:creationId xmlns:p14="http://schemas.microsoft.com/office/powerpoint/2010/main" val="395317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Disadvantage of social media marketing:-</a:t>
            </a:r>
            <a:endParaRPr lang="en-IN" dirty="0"/>
          </a:p>
        </p:txBody>
      </p:sp>
      <p:sp>
        <p:nvSpPr>
          <p:cNvPr id="3" name="Content Placeholder 2"/>
          <p:cNvSpPr>
            <a:spLocks noGrp="1"/>
          </p:cNvSpPr>
          <p:nvPr>
            <p:ph idx="1"/>
          </p:nvPr>
        </p:nvSpPr>
        <p:spPr/>
        <p:txBody>
          <a:bodyPr/>
          <a:lstStyle/>
          <a:p>
            <a:r>
              <a:rPr lang="en-US" dirty="0" smtClean="0"/>
              <a:t>Time consuming</a:t>
            </a:r>
          </a:p>
          <a:p>
            <a:r>
              <a:rPr lang="en-US" dirty="0" smtClean="0"/>
              <a:t>Receives negative feedback from the audience</a:t>
            </a:r>
          </a:p>
          <a:p>
            <a:r>
              <a:rPr lang="en-US" dirty="0" smtClean="0"/>
              <a:t>Needs qualified personnel</a:t>
            </a:r>
          </a:p>
          <a:p>
            <a:r>
              <a:rPr lang="en-US" dirty="0" smtClean="0"/>
              <a:t>Exposure to competitors</a:t>
            </a:r>
            <a:endParaRPr lang="en-IN" dirty="0"/>
          </a:p>
        </p:txBody>
      </p:sp>
    </p:spTree>
    <p:extLst>
      <p:ext uri="{BB962C8B-B14F-4D97-AF65-F5344CB8AC3E}">
        <p14:creationId xmlns:p14="http://schemas.microsoft.com/office/powerpoint/2010/main" val="4017252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media marketing tools:-</a:t>
            </a:r>
            <a:endParaRPr lang="en-IN" dirty="0"/>
          </a:p>
        </p:txBody>
      </p:sp>
      <p:sp>
        <p:nvSpPr>
          <p:cNvPr id="3" name="Content Placeholder 2"/>
          <p:cNvSpPr>
            <a:spLocks noGrp="1"/>
          </p:cNvSpPr>
          <p:nvPr>
            <p:ph idx="1"/>
          </p:nvPr>
        </p:nvSpPr>
        <p:spPr/>
        <p:txBody>
          <a:bodyPr/>
          <a:lstStyle/>
          <a:p>
            <a:r>
              <a:rPr lang="en-US" dirty="0" err="1" smtClean="0"/>
              <a:t>SocialOomph</a:t>
            </a:r>
            <a:endParaRPr lang="en-US" dirty="0" smtClean="0"/>
          </a:p>
          <a:p>
            <a:r>
              <a:rPr lang="en-US" dirty="0" err="1" smtClean="0"/>
              <a:t>Postplanner</a:t>
            </a:r>
            <a:endParaRPr lang="en-US" dirty="0" smtClean="0"/>
          </a:p>
          <a:p>
            <a:r>
              <a:rPr lang="en-US" dirty="0" err="1" smtClean="0"/>
              <a:t>Chatteypeople</a:t>
            </a:r>
            <a:endParaRPr lang="en-US" dirty="0" smtClean="0"/>
          </a:p>
          <a:p>
            <a:r>
              <a:rPr lang="en-US" dirty="0" err="1" smtClean="0"/>
              <a:t>Canva</a:t>
            </a:r>
            <a:endParaRPr lang="en-US" dirty="0" smtClean="0"/>
          </a:p>
          <a:p>
            <a:endParaRPr lang="en-IN" dirty="0"/>
          </a:p>
        </p:txBody>
      </p:sp>
    </p:spTree>
    <p:extLst>
      <p:ext uri="{BB962C8B-B14F-4D97-AF65-F5344CB8AC3E}">
        <p14:creationId xmlns:p14="http://schemas.microsoft.com/office/powerpoint/2010/main" val="3865357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US" dirty="0" smtClean="0"/>
              <a:t>   </a:t>
            </a:r>
          </a:p>
          <a:p>
            <a:pPr marL="0" indent="0">
              <a:buNone/>
            </a:pPr>
            <a:endParaRPr lang="en-US" dirty="0"/>
          </a:p>
          <a:p>
            <a:pPr marL="0" indent="0">
              <a:buNone/>
            </a:pPr>
            <a:endParaRPr lang="en-US" dirty="0" smtClean="0"/>
          </a:p>
          <a:p>
            <a:pPr marL="0" indent="0">
              <a:buNone/>
            </a:pPr>
            <a:r>
              <a:rPr lang="en-US" sz="3600" dirty="0"/>
              <a:t> </a:t>
            </a:r>
            <a:r>
              <a:rPr lang="en-US" sz="3600" dirty="0" smtClean="0"/>
              <a:t>      THAN YOU !!!</a:t>
            </a:r>
            <a:endParaRPr lang="en-IN" sz="3600" u="sng" dirty="0"/>
          </a:p>
        </p:txBody>
      </p:sp>
    </p:spTree>
    <p:extLst>
      <p:ext uri="{BB962C8B-B14F-4D97-AF65-F5344CB8AC3E}">
        <p14:creationId xmlns:p14="http://schemas.microsoft.com/office/powerpoint/2010/main" val="132678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148</TotalTime>
  <Words>465</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Wisp</vt:lpstr>
      <vt:lpstr>SOCIAL MEDIA MARKETING</vt:lpstr>
      <vt:lpstr>Social marketing marketing</vt:lpstr>
      <vt:lpstr>What is a social media marketing:-</vt:lpstr>
      <vt:lpstr>Importance social media marketing </vt:lpstr>
      <vt:lpstr> Social media marketing platforms:-   </vt:lpstr>
      <vt:lpstr>Facebook:-</vt:lpstr>
      <vt:lpstr>Advantages of Facebook</vt:lpstr>
      <vt:lpstr> Disadvantages of Facebook:  </vt:lpstr>
      <vt:lpstr>INSTAGRAM</vt:lpstr>
      <vt:lpstr>Advantage of Instagram:-</vt:lpstr>
      <vt:lpstr>Disadvantage of Instagram:-</vt:lpstr>
      <vt:lpstr>Advantage of social media marketing:-</vt:lpstr>
      <vt:lpstr>Disadvantage of social media marketing:-</vt:lpstr>
      <vt:lpstr>Social media marketing tools:-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MARKETING</dc:title>
  <dc:creator>ADMIN</dc:creator>
  <cp:lastModifiedBy>ADMIN</cp:lastModifiedBy>
  <cp:revision>19</cp:revision>
  <dcterms:created xsi:type="dcterms:W3CDTF">2025-08-20T05:35:10Z</dcterms:created>
  <dcterms:modified xsi:type="dcterms:W3CDTF">2025-08-20T08:03:41Z</dcterms:modified>
</cp:coreProperties>
</file>